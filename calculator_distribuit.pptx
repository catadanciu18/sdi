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9"/>
  </p:notesMasterIdLst>
  <p:sldIdLst>
    <p:sldId id="256" r:id="rId2"/>
    <p:sldId id="261" r:id="rId3"/>
    <p:sldId id="264" r:id="rId4"/>
    <p:sldId id="311" r:id="rId5"/>
    <p:sldId id="314" r:id="rId6"/>
    <p:sldId id="315" r:id="rId7"/>
    <p:sldId id="316" r:id="rId8"/>
  </p:sldIdLst>
  <p:sldSz cx="9144000" cy="5143500" type="screen16x9"/>
  <p:notesSz cx="6858000" cy="9144000"/>
  <p:embeddedFontLst>
    <p:embeddedFont>
      <p:font typeface="Albert Sans" panose="020B0604020202020204" charset="0"/>
      <p:regular r:id="rId10"/>
      <p:bold r:id="rId11"/>
      <p:italic r:id="rId12"/>
      <p:boldItalic r:id="rId13"/>
    </p:embeddedFont>
    <p:embeddedFont>
      <p:font typeface="Alexandria Medium" panose="020B0604020202020204" charset="-78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22216092-FA36-4502-9EBA-8B5F88466D55}">
  <a:tblStyle styleId="{22216092-FA36-4502-9EBA-8B5F88466D5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3ED0224-4D86-4D34-A85D-C0B7351BA1A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25" d="100"/>
          <a:sy n="125" d="100"/>
        </p:scale>
        <p:origin x="-1224" y="-4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6529355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558abb5fb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558abb5fb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5685abcfc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5685abcfc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5703cb3a7b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5703cb3a7b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5703cb3a7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5703cb3a7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5703cb3a7b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5703cb3a7b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-19689" t="41478" r="19690" b="227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711750" y="1958600"/>
            <a:ext cx="4280100" cy="26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9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4572000" y="535000"/>
            <a:ext cx="3860400" cy="38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lt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6"/>
          <p:cNvPicPr preferRelativeResize="0"/>
          <p:nvPr/>
        </p:nvPicPr>
        <p:blipFill rotWithShape="1">
          <a:blip r:embed="rId2">
            <a:alphaModFix/>
          </a:blip>
          <a:srcRect l="104756" t="-108210" r="280062" b="47851"/>
          <a:stretch/>
        </p:blipFill>
        <p:spPr>
          <a:xfrm rot="10800000">
            <a:off x="1325" y="-1637"/>
            <a:ext cx="9141450" cy="514677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lt1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9"/>
          <p:cNvPicPr preferRelativeResize="0"/>
          <p:nvPr/>
        </p:nvPicPr>
        <p:blipFill rotWithShape="1">
          <a:blip r:embed="rId2">
            <a:alphaModFix/>
          </a:blip>
          <a:srcRect l="7043" t="47434" r="-48486" b="-26994"/>
          <a:stretch/>
        </p:blipFill>
        <p:spPr>
          <a:xfrm rot="10800000" flipH="1">
            <a:off x="-12" y="-2285"/>
            <a:ext cx="9144000" cy="514807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5925300" cy="125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4572000" y="3358100"/>
            <a:ext cx="3856800" cy="125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9"/>
          <p:cNvPicPr preferRelativeResize="0"/>
          <p:nvPr/>
        </p:nvPicPr>
        <p:blipFill rotWithShape="1">
          <a:blip r:embed="rId2">
            <a:alphaModFix/>
          </a:blip>
          <a:srcRect l="-50000" t="49600" r="50000" b="-5849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9"/>
          <p:cNvSpPr txBox="1">
            <a:spLocks noGrp="1"/>
          </p:cNvSpPr>
          <p:nvPr>
            <p:ph type="subTitle" idx="1"/>
          </p:nvPr>
        </p:nvSpPr>
        <p:spPr>
          <a:xfrm>
            <a:off x="715100" y="2046500"/>
            <a:ext cx="5930100" cy="7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ubTitle" idx="2"/>
          </p:nvPr>
        </p:nvSpPr>
        <p:spPr>
          <a:xfrm>
            <a:off x="715100" y="3299000"/>
            <a:ext cx="5930100" cy="7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subTitle" idx="3"/>
          </p:nvPr>
        </p:nvSpPr>
        <p:spPr>
          <a:xfrm>
            <a:off x="715100" y="1666700"/>
            <a:ext cx="5930100" cy="45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subTitle" idx="4"/>
          </p:nvPr>
        </p:nvSpPr>
        <p:spPr>
          <a:xfrm>
            <a:off x="715100" y="2919200"/>
            <a:ext cx="5930100" cy="45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solidFill>
          <a:schemeClr val="lt1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30"/>
          <p:cNvPicPr preferRelativeResize="0"/>
          <p:nvPr/>
        </p:nvPicPr>
        <p:blipFill rotWithShape="1">
          <a:blip r:embed="rId2">
            <a:alphaModFix/>
          </a:blip>
          <a:srcRect l="-6643" t="13471" r="27548" b="-35825"/>
          <a:stretch/>
        </p:blipFill>
        <p:spPr>
          <a:xfrm flipH="1">
            <a:off x="-10680" y="-2437"/>
            <a:ext cx="332129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0"/>
          <p:cNvPicPr preferRelativeResize="0"/>
          <p:nvPr/>
        </p:nvPicPr>
        <p:blipFill rotWithShape="1">
          <a:blip r:embed="rId2">
            <a:alphaModFix/>
          </a:blip>
          <a:srcRect l="-235242" t="44962" r="44460" b="-108521"/>
          <a:stretch/>
        </p:blipFill>
        <p:spPr>
          <a:xfrm rot="10800000" flipH="1">
            <a:off x="-10680" y="-2437"/>
            <a:ext cx="9144080" cy="514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solidFill>
          <a:schemeClr val="lt1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1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31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083700"/>
            <a:ext cx="7713900" cy="3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5" r:id="rId3"/>
    <p:sldLayoutId id="2147483658" r:id="rId4"/>
    <p:sldLayoutId id="2147483665" r:id="rId5"/>
    <p:sldLayoutId id="2147483676" r:id="rId6"/>
    <p:sldLayoutId id="2147483677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5"/>
          <p:cNvSpPr txBox="1">
            <a:spLocks noGrp="1"/>
          </p:cNvSpPr>
          <p:nvPr>
            <p:ph type="ctrTitle"/>
          </p:nvPr>
        </p:nvSpPr>
        <p:spPr>
          <a:xfrm>
            <a:off x="711750" y="2724150"/>
            <a:ext cx="5460450" cy="19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 smtClean="0"/>
              <a:t>Calculator distribuit</a:t>
            </a:r>
            <a:endParaRPr sz="7000"/>
          </a:p>
        </p:txBody>
      </p:sp>
      <p:sp>
        <p:nvSpPr>
          <p:cNvPr id="2" name="Subtitlu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o-RO" smtClean="0"/>
              <a:t>Danciu Cătălin-Beniamin</a:t>
            </a:r>
          </a:p>
          <a:p>
            <a:r>
              <a:rPr lang="ro-RO" smtClean="0"/>
              <a:t>CAL IV</a:t>
            </a:r>
            <a:endParaRPr lang="ro-RO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0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5925300" cy="125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6000" smtClean="0"/>
              <a:t>Scopul</a:t>
            </a:r>
            <a:r>
              <a:rPr lang="ro-RO" smtClean="0"/>
              <a:t> </a:t>
            </a:r>
            <a:r>
              <a:rPr lang="ro-RO" sz="6000" smtClean="0"/>
              <a:t>aplicației</a:t>
            </a:r>
            <a:endParaRPr/>
          </a:p>
        </p:txBody>
      </p:sp>
      <p:sp>
        <p:nvSpPr>
          <p:cNvPr id="243" name="Google Shape;243;p40"/>
          <p:cNvSpPr txBox="1">
            <a:spLocks noGrp="1"/>
          </p:cNvSpPr>
          <p:nvPr>
            <p:ph type="subTitle" idx="1"/>
          </p:nvPr>
        </p:nvSpPr>
        <p:spPr>
          <a:xfrm>
            <a:off x="1066800" y="3257550"/>
            <a:ext cx="6477000" cy="12747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ro-RO" smtClean="0"/>
              <a:t>		</a:t>
            </a:r>
            <a:r>
              <a:rPr lang="vi-VN" smtClean="0"/>
              <a:t>Aplicația </a:t>
            </a:r>
            <a:r>
              <a:rPr lang="vi-VN"/>
              <a:t>are ca scop realizarea unui calculator care nu execută calculele într-un singur loc, ci distribuie sarcina de calcul către mai multe componente independente, numite workeri</a:t>
            </a:r>
            <a:r>
              <a:rPr lang="vi-VN"/>
              <a:t>. </a:t>
            </a:r>
            <a:endParaRPr lang="ro-RO" smtClean="0"/>
          </a:p>
          <a:p>
            <a:pPr algn="just"/>
            <a:r>
              <a:rPr lang="ro-RO"/>
              <a:t>	</a:t>
            </a:r>
            <a:r>
              <a:rPr lang="ro-RO" smtClean="0"/>
              <a:t>	</a:t>
            </a:r>
            <a:r>
              <a:rPr lang="vi-VN" smtClean="0"/>
              <a:t>Fiecare </a:t>
            </a:r>
            <a:r>
              <a:rPr lang="vi-VN"/>
              <a:t>worker primește o parte din datele de intrare, execută un calcul parțial și trimite rezultatul înapoi către componenta centrală, numită coordinator. Rezultatul final este obținut prin combinarea rezultatelor parțiale.</a:t>
            </a:r>
            <a:endParaRPr lang="en-US" smtClean="0"/>
          </a:p>
        </p:txBody>
      </p:sp>
      <p:cxnSp>
        <p:nvCxnSpPr>
          <p:cNvPr id="244" name="Google Shape;244;p40">
            <a:hlinkClick r:id="" action="ppaction://hlinkshowjump?jump=nextslide"/>
          </p:cNvPr>
          <p:cNvCxnSpPr/>
          <p:nvPr/>
        </p:nvCxnSpPr>
        <p:spPr>
          <a:xfrm>
            <a:off x="956750" y="4019550"/>
            <a:ext cx="483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3"/>
          <p:cNvSpPr txBox="1">
            <a:spLocks noGrp="1"/>
          </p:cNvSpPr>
          <p:nvPr>
            <p:ph type="subTitle" idx="1"/>
          </p:nvPr>
        </p:nvSpPr>
        <p:spPr>
          <a:xfrm>
            <a:off x="457200" y="1276350"/>
            <a:ext cx="6477000" cy="29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o-RO" smtClean="0"/>
              <a:t>		</a:t>
            </a:r>
            <a:r>
              <a:rPr lang="vi-VN" smtClean="0"/>
              <a:t>Utilizatorul </a:t>
            </a:r>
            <a:r>
              <a:rPr lang="vi-VN"/>
              <a:t>interacționează cu aplicația prin intermediul unei interfețe web. Acesta poate selecta tipul de operație matematică dorită și poate introduce valorile necesare pentru calcul</a:t>
            </a:r>
            <a:r>
              <a:rPr lang="vi-VN"/>
              <a:t>. </a:t>
            </a:r>
            <a:endParaRPr lang="ro-RO" smtClean="0"/>
          </a:p>
          <a:p>
            <a:r>
              <a:rPr lang="ro-RO"/>
              <a:t>	</a:t>
            </a:r>
            <a:r>
              <a:rPr lang="ro-RO" smtClean="0"/>
              <a:t>	</a:t>
            </a:r>
            <a:r>
              <a:rPr lang="vi-VN" smtClean="0"/>
              <a:t>După </a:t>
            </a:r>
            <a:r>
              <a:rPr lang="vi-VN"/>
              <a:t>inițierea operației, utilizatorul nu este implicat în procesul de distribuire sau execuție a calculelor</a:t>
            </a:r>
            <a:r>
              <a:rPr lang="vi-VN"/>
              <a:t>. </a:t>
            </a:r>
            <a:endParaRPr lang="ro-RO" smtClean="0"/>
          </a:p>
          <a:p>
            <a:r>
              <a:rPr lang="ro-RO"/>
              <a:t>	</a:t>
            </a:r>
            <a:r>
              <a:rPr lang="ro-RO" smtClean="0"/>
              <a:t>	</a:t>
            </a:r>
            <a:r>
              <a:rPr lang="vi-VN" smtClean="0"/>
              <a:t>Toate </a:t>
            </a:r>
            <a:r>
              <a:rPr lang="vi-VN"/>
              <a:t>aceste operații sunt gestionate automat de aplicație, fără intervenția utilizatorului. Utilizatorul primește la final rezultatul complet al operației, precum și informații despre modul în care fiecare worker a contribuit la obținerea acestuia.</a:t>
            </a:r>
          </a:p>
        </p:txBody>
      </p:sp>
      <p:sp>
        <p:nvSpPr>
          <p:cNvPr id="264" name="Google Shape;264;p43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mtClean="0"/>
              <a:t>R</a:t>
            </a:r>
            <a:r>
              <a:rPr lang="ro-RO" smtClean="0"/>
              <a:t>olul utilizatorului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6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o-RO" smtClean="0"/>
              <a:t>Cum funcționează aplicația?</a:t>
            </a:r>
            <a:endParaRPr/>
          </a:p>
        </p:txBody>
      </p:sp>
      <p:graphicFrame>
        <p:nvGraphicFramePr>
          <p:cNvPr id="198" name="Google Shape;198;p36"/>
          <p:cNvGraphicFramePr/>
          <p:nvPr>
            <p:extLst>
              <p:ext uri="{D42A27DB-BD31-4B8C-83A1-F6EECF244321}">
                <p14:modId xmlns:p14="http://schemas.microsoft.com/office/powerpoint/2010/main" val="2478981090"/>
              </p:ext>
            </p:extLst>
          </p:nvPr>
        </p:nvGraphicFramePr>
        <p:xfrm>
          <a:off x="720000" y="1677525"/>
          <a:ext cx="7704000" cy="1807625"/>
        </p:xfrm>
        <a:graphic>
          <a:graphicData uri="http://schemas.openxmlformats.org/drawingml/2006/table">
            <a:tbl>
              <a:tblPr>
                <a:noFill/>
                <a:tableStyleId>{22216092-FA36-4502-9EBA-8B5F88466D55}</a:tableStyleId>
              </a:tblPr>
              <a:tblGrid>
                <a:gridCol w="3852000"/>
                <a:gridCol w="3852000"/>
              </a:tblGrid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-RO" sz="1000" smtClean="0"/>
                        <a:t>1. </a:t>
                      </a:r>
                      <a:r>
                        <a:rPr lang="it-IT" sz="1000" smtClean="0"/>
                        <a:t>Utilizatorul introduce operația și datele de intrare</a:t>
                      </a:r>
                      <a:endParaRPr sz="1000" b="1" u="sng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ro-RO" sz="1000" smtClean="0"/>
                        <a:t>2. </a:t>
                      </a:r>
                      <a:r>
                        <a:rPr lang="vi-VN" sz="1000" smtClean="0"/>
                        <a:t>Cererea este trimisă către coordinator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000" smtClean="0"/>
                        <a:t>3. Coordinatorul analizează operația și datele primite</a:t>
                      </a:r>
                      <a:endParaRPr sz="1000" b="1" u="sng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ro-RO" sz="1000" smtClean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4.</a:t>
                      </a:r>
                      <a:r>
                        <a:rPr lang="vi-VN" sz="1000" smtClean="0"/>
                        <a:t> Setul de date este împărțit în sub-seturi mai mici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-RO" sz="1000" smtClean="0"/>
                        <a:t>5. </a:t>
                      </a:r>
                      <a:r>
                        <a:rPr lang="vi-VN" sz="1000" smtClean="0"/>
                        <a:t>Fiecare sub-set este trimis către un worker diferit</a:t>
                      </a:r>
                      <a:endParaRPr sz="1000" b="1" u="sng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ro-RO" sz="1000" smtClean="0"/>
                        <a:t>6.</a:t>
                      </a:r>
                      <a:r>
                        <a:rPr lang="ro-RO" sz="1000" baseline="0" smtClean="0"/>
                        <a:t> </a:t>
                      </a:r>
                      <a:r>
                        <a:rPr lang="vi-VN" sz="1000" smtClean="0"/>
                        <a:t>Workerii execută calculele în paralel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-RO" sz="1000" smtClean="0"/>
                        <a:t>7. </a:t>
                      </a:r>
                      <a:r>
                        <a:rPr lang="it-IT" sz="1000" smtClean="0"/>
                        <a:t>Rezultatele parțiale sunt trimise înapoi către coordinator</a:t>
                      </a:r>
                      <a:endParaRPr sz="1000" b="1" u="sng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ro-RO" sz="1000" smtClean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8.</a:t>
                      </a:r>
                      <a:r>
                        <a:rPr lang="ro-RO" sz="1000" baseline="0" smtClean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 </a:t>
                      </a:r>
                      <a:r>
                        <a:rPr lang="vi-VN" sz="1000" smtClean="0"/>
                        <a:t>Coordinatorul agregă rezultatele și obține rezultatul final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</a:tr>
              <a:tr h="36152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-RO" sz="1000" smtClean="0"/>
                        <a:t>9. </a:t>
                      </a:r>
                      <a:r>
                        <a:rPr lang="en-US" sz="1000" smtClean="0"/>
                        <a:t>Rezultatul este afișat în interfața aplicației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5063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3"/>
          <p:cNvSpPr txBox="1">
            <a:spLocks noGrp="1"/>
          </p:cNvSpPr>
          <p:nvPr>
            <p:ph type="subTitle" idx="1"/>
          </p:nvPr>
        </p:nvSpPr>
        <p:spPr>
          <a:xfrm>
            <a:off x="457200" y="1276350"/>
            <a:ext cx="6477000" cy="29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o-RO" smtClean="0"/>
              <a:t>		</a:t>
            </a:r>
            <a:r>
              <a:rPr lang="vi-VN" smtClean="0"/>
              <a:t>Aplicația </a:t>
            </a:r>
            <a:r>
              <a:rPr lang="vi-VN"/>
              <a:t>este considerată distribuită deoarece folosește mai multe procese independente care rulează separat și comunică între ele prin rețea. Fiecare worker funcționează independent și nu cunoaște existența celorlalți workeri</a:t>
            </a:r>
            <a:r>
              <a:rPr lang="vi-VN"/>
              <a:t>. </a:t>
            </a:r>
            <a:endParaRPr lang="ro-RO" smtClean="0"/>
          </a:p>
          <a:p>
            <a:r>
              <a:rPr lang="ro-RO"/>
              <a:t>	</a:t>
            </a:r>
            <a:r>
              <a:rPr lang="ro-RO" smtClean="0"/>
              <a:t>	</a:t>
            </a:r>
            <a:r>
              <a:rPr lang="vi-VN" smtClean="0"/>
              <a:t>Coordinatorul </a:t>
            </a:r>
            <a:r>
              <a:rPr lang="vi-VN"/>
              <a:t>nu execută direct calculele, ci are rol de coordonare și agregare. Această separare a responsabilităților este specifică sistemelor distribuite și permite extinderea aplicației prin adăugarea de workeri suplimentari.</a:t>
            </a:r>
          </a:p>
        </p:txBody>
      </p:sp>
      <p:sp>
        <p:nvSpPr>
          <p:cNvPr id="264" name="Google Shape;264;p43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o-RO" smtClean="0"/>
              <a:t>Ce face aplicația distribuită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37624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in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876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081059"/>
      </p:ext>
    </p:extLst>
  </p:cSld>
  <p:clrMapOvr>
    <a:masterClrMapping/>
  </p:clrMapOvr>
</p:sld>
</file>

<file path=ppt/theme/theme1.xml><?xml version="1.0" encoding="utf-8"?>
<a:theme xmlns:a="http://schemas.openxmlformats.org/drawingml/2006/main" name="Lead Funnel by Slidesgo">
  <a:themeElements>
    <a:clrScheme name="Simple Light">
      <a:dk1>
        <a:srgbClr val="15110E"/>
      </a:dk1>
      <a:lt1>
        <a:srgbClr val="FFFAF6"/>
      </a:lt1>
      <a:dk2>
        <a:srgbClr val="C2E5F5"/>
      </a:dk2>
      <a:lt2>
        <a:srgbClr val="5296B8"/>
      </a:lt2>
      <a:accent1>
        <a:srgbClr val="135669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5110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97</Words>
  <Application>Microsoft Office PowerPoint</Application>
  <PresentationFormat>Expunere pe ecran (16:9)</PresentationFormat>
  <Paragraphs>23</Paragraphs>
  <Slides>7</Slides>
  <Notes>5</Notes>
  <HiddenSlides>0</HiddenSlides>
  <MMClips>0</MMClips>
  <ScaleCrop>false</ScaleCrop>
  <HeadingPairs>
    <vt:vector size="6" baseType="variant">
      <vt:variant>
        <vt:lpstr>Fonturi utilizate</vt:lpstr>
      </vt:variant>
      <vt:variant>
        <vt:i4>3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7</vt:i4>
      </vt:variant>
    </vt:vector>
  </HeadingPairs>
  <TitlesOfParts>
    <vt:vector size="11" baseType="lpstr">
      <vt:lpstr>Arial</vt:lpstr>
      <vt:lpstr>Albert Sans</vt:lpstr>
      <vt:lpstr>Alexandria Medium</vt:lpstr>
      <vt:lpstr>Lead Funnel by Slidesgo</vt:lpstr>
      <vt:lpstr>Calculator distribuit</vt:lpstr>
      <vt:lpstr>Scopul aplicației</vt:lpstr>
      <vt:lpstr>Rolul utilizatorului</vt:lpstr>
      <vt:lpstr>Cum funcționează aplicația?</vt:lpstr>
      <vt:lpstr>Ce face aplicația distribuită</vt:lpstr>
      <vt:lpstr>Prezentare PowerPoint</vt:lpstr>
      <vt:lpstr>Prezentare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Autokat</dc:title>
  <dc:creator>Cata</dc:creator>
  <cp:lastModifiedBy>Cata</cp:lastModifiedBy>
  <cp:revision>5</cp:revision>
  <dcterms:modified xsi:type="dcterms:W3CDTF">2026-01-19T21:14:07Z</dcterms:modified>
</cp:coreProperties>
</file>